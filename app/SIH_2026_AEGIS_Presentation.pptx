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AEGIS, Team ID TH10-HW, problem statement 26180 from Qualcomm under Agriculture, FoodTech and Rural Development. Hardware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is a two-pass drone system. The survey pass finds where the field is abnormal, the low-altitude revisit confirms what it is, ground nodes explain why, and edge AI issues a confidence-scored advisory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field sensing on LoRa nodes, the aircraft with Pixhawk and Jetson Nano, the field edge station running OpenDroneMap and the models, and the offline farmer interface. Six-week build order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flight-critical part is already owned or proven. The prototype costs about 80 thousand rupees against 6.67 lakh for a Mavic 3M. Five named risks with the mitigation we will actually implement.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runs from the individual farmer up to national input use. Benefits split into economic, environmental and social, each tied to something the system actually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audited the NDVI paper we were given and found three printed equations inverted, which is why calibration is a reference and not a foundation. Datasets are reused for pretraining only; the field data is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86/s13007-023-00981-8" TargetMode="External"/><Relationship Id="rId3" Type="http://schemas.openxmlformats.org/officeDocument/2006/relationships/hyperlink" Target="https://link.springer.com/article/10.1007/s12518-019-00292-5" TargetMode="External"/><Relationship Id="rId4" Type="http://schemas.openxmlformats.org/officeDocument/2006/relationships/hyperlink" Target="https://www.frontiersin.org/journals/plant-science/articles/10.3389/fpls.2016.01419/full" TargetMode="External"/><Relationship Id="rId5" Type="http://schemas.openxmlformats.org/officeDocument/2006/relationships/hyperlink" Target="https://www.mdpi.com/2072-4292/10/7/1091" TargetMode="External"/><Relationship Id="rId6" Type="http://schemas.openxmlformats.org/officeDocument/2006/relationships/hyperlink" Target="https://www.mdpi.com/2073-4395/10/11/1671" TargetMode="External"/><Relationship Id="rId7" Type="http://schemas.openxmlformats.org/officeDocument/2006/relationships/hyperlink" Target="https://ardupilot.org/copter/docs/common-camera-control-and-auto-missions-in-mission-planner.html" TargetMode="External"/><Relationship Id="rId8" Type="http://schemas.openxmlformats.org/officeDocument/2006/relationships/hyperlink" Target="https://docs.qgroundcontrol.com/Stable_V5.0/en/qgc-user-guide/plan_view/pattern_survey.html" TargetMode="External"/><Relationship Id="rId1" Type="http://schemas.openxmlformats.org/officeDocument/2006/relationships/image" Target="../media/image-6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775" y="1276350"/>
            <a:ext cx="6962775" cy="773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475" y="2571750"/>
            <a:ext cx="4810125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209550"/>
            <a:ext cx="157162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703"/>
              </a:lnSpc>
              <a:buNone/>
            </a:pPr>
            <a:r>
              <a:rPr lang="en-US" sz="6000" b="1" dirty="0">
                <a:solidFill>
                  <a:srgbClr val="1F49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2026</a:t>
            </a:r>
            <a:endParaRPr lang="en-US" sz="6000" dirty="0"/>
          </a:p>
        </p:txBody>
      </p:sp>
      <p:sp>
        <p:nvSpPr>
          <p:cNvPr id="6" name="Text 1"/>
          <p:cNvSpPr/>
          <p:nvPr/>
        </p:nvSpPr>
        <p:spPr>
          <a:xfrm>
            <a:off x="495300" y="3067050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7" name="Text 2"/>
          <p:cNvSpPr/>
          <p:nvPr/>
        </p:nvSpPr>
        <p:spPr>
          <a:xfrm>
            <a:off x="876300" y="3067050"/>
            <a:ext cx="963930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26180</a:t>
            </a:r>
            <a:endParaRPr lang="en-US" sz="3450" dirty="0"/>
          </a:p>
        </p:txBody>
      </p:sp>
      <p:sp>
        <p:nvSpPr>
          <p:cNvPr id="8" name="Text 3"/>
          <p:cNvSpPr/>
          <p:nvPr/>
        </p:nvSpPr>
        <p:spPr>
          <a:xfrm>
            <a:off x="495300" y="3789015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9" name="Text 4"/>
          <p:cNvSpPr/>
          <p:nvPr/>
        </p:nvSpPr>
        <p:spPr>
          <a:xfrm>
            <a:off x="876300" y="3789015"/>
            <a:ext cx="902589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77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A field-deployable AI-powered Smart Farming Assistant</a:t>
            </a:r>
            <a:endParaRPr lang="en-US" sz="3150" dirty="0"/>
          </a:p>
        </p:txBody>
      </p:sp>
      <p:sp>
        <p:nvSpPr>
          <p:cNvPr id="10" name="Text 5"/>
          <p:cNvSpPr/>
          <p:nvPr/>
        </p:nvSpPr>
        <p:spPr>
          <a:xfrm>
            <a:off x="495300" y="4981426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11" name="Text 6"/>
          <p:cNvSpPr/>
          <p:nvPr/>
        </p:nvSpPr>
        <p:spPr>
          <a:xfrm>
            <a:off x="876300" y="4981426"/>
            <a:ext cx="902589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77"/>
              </a:lnSpc>
              <a:buNone/>
            </a:pPr>
            <a:r>
              <a:rPr lang="en-US" sz="3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Agriculture, FoodTech &amp; Rural Development</a:t>
            </a:r>
            <a:endParaRPr lang="en-US" sz="3150" dirty="0"/>
          </a:p>
        </p:txBody>
      </p:sp>
      <p:sp>
        <p:nvSpPr>
          <p:cNvPr id="12" name="Text 7"/>
          <p:cNvSpPr/>
          <p:nvPr/>
        </p:nvSpPr>
        <p:spPr>
          <a:xfrm>
            <a:off x="495300" y="6173837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13" name="Text 8"/>
          <p:cNvSpPr/>
          <p:nvPr/>
        </p:nvSpPr>
        <p:spPr>
          <a:xfrm>
            <a:off x="876300" y="6173837"/>
            <a:ext cx="963930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Hardware</a:t>
            </a:r>
            <a:endParaRPr lang="en-US" sz="3450" dirty="0"/>
          </a:p>
        </p:txBody>
      </p:sp>
      <p:sp>
        <p:nvSpPr>
          <p:cNvPr id="14" name="Text 9"/>
          <p:cNvSpPr/>
          <p:nvPr/>
        </p:nvSpPr>
        <p:spPr>
          <a:xfrm>
            <a:off x="495300" y="6895802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15" name="Text 10"/>
          <p:cNvSpPr/>
          <p:nvPr/>
        </p:nvSpPr>
        <p:spPr>
          <a:xfrm>
            <a:off x="876300" y="6895802"/>
            <a:ext cx="963930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TH10-HW</a:t>
            </a:r>
            <a:endParaRPr lang="en-US" sz="3450" dirty="0"/>
          </a:p>
        </p:txBody>
      </p:sp>
      <p:sp>
        <p:nvSpPr>
          <p:cNvPr id="16" name="Text 11"/>
          <p:cNvSpPr/>
          <p:nvPr/>
        </p:nvSpPr>
        <p:spPr>
          <a:xfrm>
            <a:off x="495300" y="7617768"/>
            <a:ext cx="32385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3450" dirty="0"/>
          </a:p>
        </p:txBody>
      </p:sp>
      <p:sp>
        <p:nvSpPr>
          <p:cNvPr id="17" name="Text 12"/>
          <p:cNvSpPr/>
          <p:nvPr/>
        </p:nvSpPr>
        <p:spPr>
          <a:xfrm>
            <a:off x="876300" y="7617768"/>
            <a:ext cx="963930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05"/>
              </a:lnSpc>
              <a:buNone/>
            </a:pPr>
            <a:r>
              <a:rPr lang="en-US" sz="34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– AEGIS</a:t>
            </a:r>
            <a:endParaRPr lang="en-US" sz="3450" dirty="0"/>
          </a:p>
        </p:txBody>
      </p:sp>
      <p:sp>
        <p:nvSpPr>
          <p:cNvPr id="18" name="Text 13"/>
          <p:cNvSpPr/>
          <p:nvPr/>
        </p:nvSpPr>
        <p:spPr>
          <a:xfrm>
            <a:off x="876300" y="8301633"/>
            <a:ext cx="96393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Edge Guidance &amp; Intelligent Surveillance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381000"/>
            <a:ext cx="1933575" cy="12668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372" y="681038"/>
            <a:ext cx="15393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150" kern="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14413" y="1176338"/>
            <a:ext cx="97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b="1" spc="150" kern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TH10-HW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6450" y="133350"/>
            <a:ext cx="129921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AEGIS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076450" y="952500"/>
            <a:ext cx="129921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95"/>
              </a:lnSpc>
              <a:buNone/>
            </a:pPr>
            <a:r>
              <a:rPr lang="en-US" sz="3000" i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Autonomous Edge Guidance &amp; Intelligent Surveillance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19100" y="1771650"/>
            <a:ext cx="8382000" cy="723900"/>
          </a:xfrm>
          <a:prstGeom prst="roundRect">
            <a:avLst>
              <a:gd name="adj" fmla="val 7895"/>
            </a:avLst>
          </a:prstGeom>
          <a:solidFill>
            <a:srgbClr val="1F497D"/>
          </a:solidFill>
          <a:ln/>
        </p:spPr>
      </p:sp>
      <p:sp>
        <p:nvSpPr>
          <p:cNvPr id="9" name="Text 6"/>
          <p:cNvSpPr/>
          <p:nvPr/>
        </p:nvSpPr>
        <p:spPr>
          <a:xfrm>
            <a:off x="666750" y="1905000"/>
            <a:ext cx="86753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/ Approach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19100" y="2724150"/>
            <a:ext cx="285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62000" y="2724150"/>
            <a:ext cx="828027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Two-pass field intelligence. </a:t>
            </a:r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800 mm quadcopter flies an autonomous survey grid at 20–30 m, then revisits only the flagged coordinates at 3–5 m for close-up confirmation.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19100" y="4074616"/>
            <a:ext cx="285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62000" y="4074616"/>
            <a:ext cx="828027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that works offline. </a:t>
            </a:r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Nano runs segmentation during flight and the field station builds the orthomosaic locally, so no step of the pipeline waits on connectivity.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19100" y="5425083"/>
            <a:ext cx="285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2000" y="5425083"/>
            <a:ext cx="828027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nodes explain the cause. </a:t>
            </a:r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soil-moisture, leaf-wetness, temperature and water-level readings fuse with imagery, so a stressed zone gets a reason and not just a colour.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19100" y="6775549"/>
            <a:ext cx="285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62000" y="6775549"/>
            <a:ext cx="828027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is evidence-backed. </a:t>
            </a:r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Class, severity, confidence, evidence photo and an explicit “needs inspection” state, delivered by app, field display or SMS in the local language.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419100" y="8126016"/>
            <a:ext cx="2857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62000" y="8126016"/>
            <a:ext cx="828027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923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₹80,000 payload, not ₹6.67 lakh. </a:t>
            </a:r>
            <a:pPr algn="l" indent="0" marL="0">
              <a:lnSpc>
                <a:spcPct val="124923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low-cost sensing stack does the field-scouting work of an imported DJI Mavic 3M.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029700" y="1771650"/>
            <a:ext cx="8839200" cy="2847975"/>
          </a:xfrm>
          <a:prstGeom prst="roundRect">
            <a:avLst>
              <a:gd name="adj" fmla="val 3344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13006" y="1957388"/>
            <a:ext cx="92725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end-to-end workflow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9234488" y="2452688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6875" y="2562225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polygon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118056" y="2452688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1441906" y="2452688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494294" y="2562225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grid mission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325475" y="2452688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13649325" y="2452688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701713" y="2562225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Synced image + GPS capture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5532894" y="2452688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1" name="Shape 28"/>
          <p:cNvSpPr/>
          <p:nvPr/>
        </p:nvSpPr>
        <p:spPr>
          <a:xfrm>
            <a:off x="15856744" y="2452688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5909131" y="2562225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inference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108043" y="3319463"/>
            <a:ext cx="86825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9234488" y="3643313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86875" y="3752850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map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1118056" y="3643313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7" name="Shape 34"/>
          <p:cNvSpPr/>
          <p:nvPr/>
        </p:nvSpPr>
        <p:spPr>
          <a:xfrm>
            <a:off x="11441906" y="3643313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494294" y="3752850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Low-altitude revisit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3325475" y="3643313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3649325" y="3643313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701713" y="3752850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5532894" y="3643313"/>
            <a:ext cx="32385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3" name="Shape 40"/>
          <p:cNvSpPr/>
          <p:nvPr/>
        </p:nvSpPr>
        <p:spPr>
          <a:xfrm>
            <a:off x="15856744" y="3643313"/>
            <a:ext cx="1807369" cy="790575"/>
          </a:xfrm>
          <a:prstGeom prst="roundRect">
            <a:avLst>
              <a:gd name="adj" fmla="val 9639"/>
            </a:avLst>
          </a:prstGeom>
          <a:solidFill>
            <a:srgbClr val="0070C0"/>
          </a:solidFill>
          <a:ln w="14288">
            <a:solidFill>
              <a:srgbClr val="0070C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5909131" y="3752850"/>
            <a:ext cx="170259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091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advisory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8587740" y="4810125"/>
            <a:ext cx="97231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</a:t>
            </a:r>
            <a:endParaRPr lang="en-US" sz="2250" dirty="0"/>
          </a:p>
        </p:txBody>
      </p:sp>
      <p:sp>
        <p:nvSpPr>
          <p:cNvPr id="46" name="Shape 43"/>
          <p:cNvSpPr/>
          <p:nvPr/>
        </p:nvSpPr>
        <p:spPr>
          <a:xfrm>
            <a:off x="9029700" y="5286375"/>
            <a:ext cx="4343400" cy="201453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9029700" y="7286625"/>
            <a:ext cx="4343400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8" name="Shape 45"/>
          <p:cNvSpPr/>
          <p:nvPr/>
        </p:nvSpPr>
        <p:spPr>
          <a:xfrm>
            <a:off x="9029700" y="5286375"/>
            <a:ext cx="4343400" cy="4762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9" name="Shape 46"/>
          <p:cNvSpPr/>
          <p:nvPr/>
        </p:nvSpPr>
        <p:spPr>
          <a:xfrm>
            <a:off x="9029700" y="5286375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0" name="Shape 47"/>
          <p:cNvSpPr/>
          <p:nvPr/>
        </p:nvSpPr>
        <p:spPr>
          <a:xfrm>
            <a:off x="13358813" y="5286375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1" name="Text 48"/>
          <p:cNvSpPr/>
          <p:nvPr/>
        </p:nvSpPr>
        <p:spPr>
          <a:xfrm>
            <a:off x="9196388" y="5467350"/>
            <a:ext cx="44110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Two-pass autonomy</a:t>
            </a:r>
            <a:endParaRPr lang="en-US" sz="1950" dirty="0"/>
          </a:p>
        </p:txBody>
      </p:sp>
      <p:sp>
        <p:nvSpPr>
          <p:cNvPr id="52" name="Text 49"/>
          <p:cNvSpPr/>
          <p:nvPr/>
        </p:nvSpPr>
        <p:spPr>
          <a:xfrm>
            <a:off x="9196388" y="5840685"/>
            <a:ext cx="413032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survey finds where the problem is; the revisit decides what it is.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13525500" y="5286375"/>
            <a:ext cx="4343400" cy="201453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/>
        </p:spPr>
      </p:sp>
      <p:sp>
        <p:nvSpPr>
          <p:cNvPr id="54" name="Shape 51"/>
          <p:cNvSpPr/>
          <p:nvPr/>
        </p:nvSpPr>
        <p:spPr>
          <a:xfrm>
            <a:off x="13525500" y="7286625"/>
            <a:ext cx="4343400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5" name="Shape 52"/>
          <p:cNvSpPr/>
          <p:nvPr/>
        </p:nvSpPr>
        <p:spPr>
          <a:xfrm>
            <a:off x="13525500" y="5286375"/>
            <a:ext cx="4343400" cy="4762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6" name="Shape 53"/>
          <p:cNvSpPr/>
          <p:nvPr/>
        </p:nvSpPr>
        <p:spPr>
          <a:xfrm>
            <a:off x="13525500" y="5286375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7" name="Shape 54"/>
          <p:cNvSpPr/>
          <p:nvPr/>
        </p:nvSpPr>
        <p:spPr>
          <a:xfrm>
            <a:off x="17854613" y="5286375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8" name="Text 55"/>
          <p:cNvSpPr/>
          <p:nvPr/>
        </p:nvSpPr>
        <p:spPr>
          <a:xfrm>
            <a:off x="13692188" y="5467350"/>
            <a:ext cx="44110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by design</a:t>
            </a:r>
            <a:endParaRPr lang="en-US" sz="1950" dirty="0"/>
          </a:p>
        </p:txBody>
      </p:sp>
      <p:sp>
        <p:nvSpPr>
          <p:cNvPr id="59" name="Text 56"/>
          <p:cNvSpPr/>
          <p:nvPr/>
        </p:nvSpPr>
        <p:spPr>
          <a:xfrm>
            <a:off x="13692188" y="5840685"/>
            <a:ext cx="413032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map tiles and history live on the field station, not the cloud.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9029700" y="7453312"/>
            <a:ext cx="4343400" cy="201453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/>
        </p:spPr>
      </p:sp>
      <p:sp>
        <p:nvSpPr>
          <p:cNvPr id="61" name="Shape 58"/>
          <p:cNvSpPr/>
          <p:nvPr/>
        </p:nvSpPr>
        <p:spPr>
          <a:xfrm>
            <a:off x="9029700" y="9453563"/>
            <a:ext cx="4343400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62" name="Shape 59"/>
          <p:cNvSpPr/>
          <p:nvPr/>
        </p:nvSpPr>
        <p:spPr>
          <a:xfrm>
            <a:off x="9029700" y="7453312"/>
            <a:ext cx="4343400" cy="4762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3" name="Shape 60"/>
          <p:cNvSpPr/>
          <p:nvPr/>
        </p:nvSpPr>
        <p:spPr>
          <a:xfrm>
            <a:off x="9029700" y="7453312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64" name="Shape 61"/>
          <p:cNvSpPr/>
          <p:nvPr/>
        </p:nvSpPr>
        <p:spPr>
          <a:xfrm>
            <a:off x="13358813" y="7453312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65" name="Text 62"/>
          <p:cNvSpPr/>
          <p:nvPr/>
        </p:nvSpPr>
        <p:spPr>
          <a:xfrm>
            <a:off x="9196388" y="7634288"/>
            <a:ext cx="44110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verdicts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9196388" y="8007623"/>
            <a:ext cx="4130326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evidence photo and an honest “unknown” state on every alert.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3525500" y="7453312"/>
            <a:ext cx="4343400" cy="2014538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/>
        </p:spPr>
      </p:sp>
      <p:sp>
        <p:nvSpPr>
          <p:cNvPr id="68" name="Shape 65"/>
          <p:cNvSpPr/>
          <p:nvPr/>
        </p:nvSpPr>
        <p:spPr>
          <a:xfrm>
            <a:off x="13525500" y="9453563"/>
            <a:ext cx="4343400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69" name="Shape 66"/>
          <p:cNvSpPr/>
          <p:nvPr/>
        </p:nvSpPr>
        <p:spPr>
          <a:xfrm>
            <a:off x="13525500" y="7453312"/>
            <a:ext cx="4343400" cy="4762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0" name="Shape 67"/>
          <p:cNvSpPr/>
          <p:nvPr/>
        </p:nvSpPr>
        <p:spPr>
          <a:xfrm>
            <a:off x="13525500" y="7453312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71" name="Shape 68"/>
          <p:cNvSpPr/>
          <p:nvPr/>
        </p:nvSpPr>
        <p:spPr>
          <a:xfrm>
            <a:off x="17854613" y="7453312"/>
            <a:ext cx="14288" cy="201453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72" name="Text 69"/>
          <p:cNvSpPr/>
          <p:nvPr/>
        </p:nvSpPr>
        <p:spPr>
          <a:xfrm>
            <a:off x="13692188" y="7634288"/>
            <a:ext cx="441102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Repeat-flight history</a:t>
            </a:r>
            <a:endParaRPr lang="en-US" sz="1950" dirty="0"/>
          </a:p>
        </p:txBody>
      </p:sp>
      <p:sp>
        <p:nvSpPr>
          <p:cNvPr id="73" name="Text 70"/>
          <p:cNvSpPr/>
          <p:nvPr/>
        </p:nvSpPr>
        <p:spPr>
          <a:xfrm>
            <a:off x="13692188" y="8007623"/>
            <a:ext cx="4130326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route, altitude and hour each week, so growth trends are comparable.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19050" dir="5400000">
              <a:srgbClr val="808080">
                <a:alpha val="35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-274320" y="9534525"/>
            <a:ext cx="1883664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550" dirty="0"/>
          </a:p>
        </p:txBody>
      </p:sp>
      <p:sp>
        <p:nvSpPr>
          <p:cNvPr id="76" name="Text 73"/>
          <p:cNvSpPr/>
          <p:nvPr/>
        </p:nvSpPr>
        <p:spPr>
          <a:xfrm>
            <a:off x="17688744" y="9534525"/>
            <a:ext cx="25635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381000"/>
            <a:ext cx="1933575" cy="12668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372" y="681038"/>
            <a:ext cx="15393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150" kern="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14413" y="1176338"/>
            <a:ext cx="97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b="1" spc="150" kern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TH10-HW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9835" y="0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19100" y="1771650"/>
            <a:ext cx="2852738" cy="5376044"/>
          </a:xfrm>
          <a:prstGeom prst="roundRect">
            <a:avLst>
              <a:gd name="adj" fmla="val 3339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3388" y="1785938"/>
            <a:ext cx="2824163" cy="780976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6"/>
          <p:cNvSpPr/>
          <p:nvPr/>
        </p:nvSpPr>
        <p:spPr>
          <a:xfrm>
            <a:off x="396954" y="1881187"/>
            <a:ext cx="28970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9F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96954" y="2174528"/>
            <a:ext cx="28970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sensing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06718" y="2700263"/>
            <a:ext cx="2793683" cy="346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ESP32 + LoRa SX1276 nodes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SEN0308 capacitive soil moisture via ADS1115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SHT31 air temp / RH, DS18B20 soil temp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wetness, rain gauge, water level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Reflectance panel for repeatable flights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05188" y="1771650"/>
            <a:ext cx="2852738" cy="5376044"/>
          </a:xfrm>
          <a:prstGeom prst="roundRect">
            <a:avLst>
              <a:gd name="adj" fmla="val 3339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9475" y="1785938"/>
            <a:ext cx="2824163" cy="780976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042" y="1881187"/>
            <a:ext cx="28970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9F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83042" y="2174528"/>
            <a:ext cx="28970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3392805" y="2700263"/>
            <a:ext cx="2793683" cy="376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mm carbon quad, 15″ props, 6S 10 Ah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Tarot 4008 330 KV, 40 A ESCs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 + ArduPilot, M10 GPS, TFmini Plus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IMX219 nadir camera on damped mount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Nano 4 GB — MAVLink time-sync + TensorRT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91275" y="1771650"/>
            <a:ext cx="2852738" cy="5376044"/>
          </a:xfrm>
          <a:prstGeom prst="roundRect">
            <a:avLst>
              <a:gd name="adj" fmla="val 3339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5563" y="1785938"/>
            <a:ext cx="2824163" cy="780976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6"/>
          <p:cNvSpPr/>
          <p:nvPr/>
        </p:nvSpPr>
        <p:spPr>
          <a:xfrm>
            <a:off x="6369129" y="1881187"/>
            <a:ext cx="28970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9F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69129" y="2174528"/>
            <a:ext cx="28970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edge station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6378893" y="2700263"/>
            <a:ext cx="2793683" cy="3763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OpenDroneMap orthomosaic and RGB indices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/ YOLO11n aerial segmentation on tiles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Rasterio + GeoPandas pixel-to-GPS projection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merge, 2 m severity grid, GeoJSON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fusion of imagery and sensors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377363" y="1771650"/>
            <a:ext cx="2852738" cy="5376044"/>
          </a:xfrm>
          <a:prstGeom prst="roundRect">
            <a:avLst>
              <a:gd name="adj" fmla="val 3339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91650" y="1785938"/>
            <a:ext cx="2824163" cy="780976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4" name="Text 21"/>
          <p:cNvSpPr/>
          <p:nvPr/>
        </p:nvSpPr>
        <p:spPr>
          <a:xfrm>
            <a:off x="9355217" y="1881187"/>
            <a:ext cx="289702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9F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355217" y="2174528"/>
            <a:ext cx="289702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interface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9364980" y="2700263"/>
            <a:ext cx="2793683" cy="3466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 offline map with problem layers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Local-language advisory with evidence photo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display and SMS fallback via SIM7600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history for week-on-week comparison</a:t>
            </a:r>
            <a:endParaRPr lang="en-US" sz="1800" dirty="0"/>
          </a:p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log closes the loop with ground truth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19100" y="7319144"/>
            <a:ext cx="11811000" cy="2148706"/>
          </a:xfrm>
          <a:prstGeom prst="roundRect">
            <a:avLst>
              <a:gd name="adj" fmla="val 4433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4838" y="7466781"/>
            <a:ext cx="1258347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/ technology stack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604838" y="7878217"/>
            <a:ext cx="1362001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1525" y="7949654"/>
            <a:ext cx="110482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2062088" y="7878217"/>
            <a:ext cx="1248221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28776" y="7949654"/>
            <a:ext cx="99104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3405560" y="7878217"/>
            <a:ext cx="2603004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72247" y="7949654"/>
            <a:ext cx="234771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MAVLink / pymavlink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103813" y="7878217"/>
            <a:ext cx="1705198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70501" y="7949654"/>
            <a:ext cx="144802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Nano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904262" y="7878217"/>
            <a:ext cx="1108025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70949" y="7949654"/>
            <a:ext cx="8508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9107537" y="7878217"/>
            <a:ext cx="2596976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74225" y="7949654"/>
            <a:ext cx="234151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+ Ultralytics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04838" y="8390632"/>
            <a:ext cx="2234282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1525" y="8462070"/>
            <a:ext cx="1977107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/ TensorRT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2934370" y="8390632"/>
            <a:ext cx="2035299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101057" y="8462070"/>
            <a:ext cx="177812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OpenDroneMap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5064919" y="8390632"/>
            <a:ext cx="2696394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31606" y="8462070"/>
            <a:ext cx="24439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Rasterio / GeoPandas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7856562" y="8390632"/>
            <a:ext cx="1730425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023250" y="8462070"/>
            <a:ext cx="14732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682237" y="8390632"/>
            <a:ext cx="1877095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48924" y="8462070"/>
            <a:ext cx="161992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LoRa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604838" y="8903047"/>
            <a:ext cx="1070074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1525" y="8974485"/>
            <a:ext cx="81289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12439650" y="1771650"/>
            <a:ext cx="5429250" cy="7696200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393454" y="1957388"/>
            <a:ext cx="55216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process</a:t>
            </a:r>
            <a:endParaRPr lang="en-US" sz="2250" dirty="0"/>
          </a:p>
        </p:txBody>
      </p:sp>
      <p:sp>
        <p:nvSpPr>
          <p:cNvPr id="55" name="Shape 52"/>
          <p:cNvSpPr/>
          <p:nvPr/>
        </p:nvSpPr>
        <p:spPr>
          <a:xfrm>
            <a:off x="12644438" y="2471738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6" name="Text 53"/>
          <p:cNvSpPr/>
          <p:nvPr/>
        </p:nvSpPr>
        <p:spPr>
          <a:xfrm>
            <a:off x="12606338" y="247173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13311188" y="2471738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Survey-grid mission verified in ArduPilot SITL: take off, grid, camera trigger, return home.</a:t>
            </a:r>
            <a:endParaRPr lang="en-US" sz="1875" dirty="0"/>
          </a:p>
        </p:txBody>
      </p:sp>
      <p:sp>
        <p:nvSpPr>
          <p:cNvPr id="58" name="Shape 55"/>
          <p:cNvSpPr/>
          <p:nvPr/>
        </p:nvSpPr>
        <p:spPr>
          <a:xfrm>
            <a:off x="12644438" y="3648075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9" name="Text 56"/>
          <p:cNvSpPr/>
          <p:nvPr/>
        </p:nvSpPr>
        <p:spPr>
          <a:xfrm>
            <a:off x="12606338" y="36480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60" name="Text 57"/>
          <p:cNvSpPr/>
          <p:nvPr/>
        </p:nvSpPr>
        <p:spPr>
          <a:xfrm>
            <a:off x="13311188" y="3648075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Time-synced capture writes image, GPS and attitude to one record; fast GeoJSON hotspot map.</a:t>
            </a:r>
            <a:endParaRPr lang="en-US" sz="1875" dirty="0"/>
          </a:p>
        </p:txBody>
      </p:sp>
      <p:sp>
        <p:nvSpPr>
          <p:cNvPr id="61" name="Shape 58"/>
          <p:cNvSpPr/>
          <p:nvPr/>
        </p:nvSpPr>
        <p:spPr>
          <a:xfrm>
            <a:off x="12644438" y="4824413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2" name="Text 59"/>
          <p:cNvSpPr/>
          <p:nvPr/>
        </p:nvSpPr>
        <p:spPr>
          <a:xfrm>
            <a:off x="12606338" y="482441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63" name="Text 60"/>
          <p:cNvSpPr/>
          <p:nvPr/>
        </p:nvSpPr>
        <p:spPr>
          <a:xfrm>
            <a:off x="13311188" y="4824413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Paddy imagery collected at our own altitudes across several fields and dates, then labelled.</a:t>
            </a:r>
            <a:endParaRPr lang="en-US" sz="1875" dirty="0"/>
          </a:p>
        </p:txBody>
      </p:sp>
      <p:sp>
        <p:nvSpPr>
          <p:cNvPr id="64" name="Shape 61"/>
          <p:cNvSpPr/>
          <p:nvPr/>
        </p:nvSpPr>
        <p:spPr>
          <a:xfrm>
            <a:off x="12644438" y="6000750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5" name="Text 62"/>
          <p:cNvSpPr/>
          <p:nvPr/>
        </p:nvSpPr>
        <p:spPr>
          <a:xfrm>
            <a:off x="12606338" y="60007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13311188" y="6000750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encoders fine-tuned, exported to ONNX and TensorRT, benchmarked on the Jetson.</a:t>
            </a:r>
            <a:endParaRPr lang="en-US" sz="1875" dirty="0"/>
          </a:p>
        </p:txBody>
      </p:sp>
      <p:sp>
        <p:nvSpPr>
          <p:cNvPr id="67" name="Shape 64"/>
          <p:cNvSpPr/>
          <p:nvPr/>
        </p:nvSpPr>
        <p:spPr>
          <a:xfrm>
            <a:off x="12644438" y="7177088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8" name="Text 65"/>
          <p:cNvSpPr/>
          <p:nvPr/>
        </p:nvSpPr>
        <p:spPr>
          <a:xfrm>
            <a:off x="12606338" y="717708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69" name="Text 66"/>
          <p:cNvSpPr/>
          <p:nvPr/>
        </p:nvSpPr>
        <p:spPr>
          <a:xfrm>
            <a:off x="13311188" y="7177088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Post-flight orthomosaic turned into stress, water and canopy-gap layers with evidence images.</a:t>
            </a:r>
            <a:endParaRPr lang="en-US" sz="1875" dirty="0"/>
          </a:p>
        </p:txBody>
      </p:sp>
      <p:sp>
        <p:nvSpPr>
          <p:cNvPr id="70" name="Shape 67"/>
          <p:cNvSpPr/>
          <p:nvPr/>
        </p:nvSpPr>
        <p:spPr>
          <a:xfrm>
            <a:off x="12644438" y="8353425"/>
            <a:ext cx="533400" cy="53340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1" name="Text 68"/>
          <p:cNvSpPr/>
          <p:nvPr/>
        </p:nvSpPr>
        <p:spPr>
          <a:xfrm>
            <a:off x="12606338" y="835342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666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72" name="Text 69"/>
          <p:cNvSpPr/>
          <p:nvPr/>
        </p:nvSpPr>
        <p:spPr>
          <a:xfrm>
            <a:off x="13311188" y="8353425"/>
            <a:ext cx="4483513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Two-pass demo: hotspots generate a reviewed low-altitude mission that updates the advisory.</a:t>
            </a:r>
            <a:endParaRPr lang="en-US" sz="1875" dirty="0"/>
          </a:p>
        </p:txBody>
      </p:sp>
      <p:sp>
        <p:nvSpPr>
          <p:cNvPr id="73" name="Shape 70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19050" dir="5400000">
              <a:srgbClr val="808080">
                <a:alpha val="35000"/>
              </a:srgbClr>
            </a:outerShdw>
          </a:effectLst>
        </p:spPr>
      </p:sp>
      <p:sp>
        <p:nvSpPr>
          <p:cNvPr id="74" name="Text 71"/>
          <p:cNvSpPr/>
          <p:nvPr/>
        </p:nvSpPr>
        <p:spPr>
          <a:xfrm>
            <a:off x="-274320" y="9534525"/>
            <a:ext cx="1883664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550" dirty="0"/>
          </a:p>
        </p:txBody>
      </p:sp>
      <p:sp>
        <p:nvSpPr>
          <p:cNvPr id="75" name="Text 72"/>
          <p:cNvSpPr/>
          <p:nvPr/>
        </p:nvSpPr>
        <p:spPr>
          <a:xfrm>
            <a:off x="17688744" y="9534525"/>
            <a:ext cx="25635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381000"/>
            <a:ext cx="1933575" cy="12668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372" y="681038"/>
            <a:ext cx="15393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150" kern="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14413" y="1176338"/>
            <a:ext cx="97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b="1" spc="150" kern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TH10-HW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9835" y="0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19100" y="1771650"/>
            <a:ext cx="5702275" cy="3263801"/>
          </a:xfrm>
          <a:prstGeom prst="roundRect">
            <a:avLst>
              <a:gd name="adj" fmla="val 2918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3888" y="1900238"/>
            <a:ext cx="5821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50533" y="2338388"/>
            <a:ext cx="5542255" cy="2606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Pixhawk, Jetson Nano, ESP32 are already in hand — no unproven parts.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ArduPilot, OpenDroneMap and pretrained encoders are reused; only the integration is custom.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3.2–3.7 kg all-up weight, 18–25 min per battery, 4–8 acres per mapping flight.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6292825" y="1771650"/>
            <a:ext cx="5702275" cy="3263801"/>
          </a:xfrm>
          <a:prstGeom prst="roundRect">
            <a:avLst>
              <a:gd name="adj" fmla="val 2918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7613" y="1900238"/>
            <a:ext cx="5821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324258" y="2338388"/>
            <a:ext cx="5542255" cy="227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₹76,000–₹83,000 for a complete prototype against ₹6.67 lakh for a DJI Mavic 3M.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Per-acre scouting through FPOs and cooperatives keeps the cost off the smallholder.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upgrade path: NIR, thermal and RTK add on without redesigning the aircraft.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2166550" y="1771650"/>
            <a:ext cx="5702350" cy="3263801"/>
          </a:xfrm>
          <a:prstGeom prst="roundRect">
            <a:avLst>
              <a:gd name="adj" fmla="val 2918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71338" y="1900238"/>
            <a:ext cx="5822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implementation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2197983" y="2338388"/>
            <a:ext cx="5542330" cy="2272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crop, one district first — paddy, where open Indian disease data already exists.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offline; alerts arrive by app, field display or SMS.</a:t>
            </a:r>
            <a:endParaRPr lang="en-US" sz="1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Six-week build order ends in a live two-pass field demonstration.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419100" y="5225951"/>
            <a:ext cx="17449800" cy="4241899"/>
          </a:xfrm>
          <a:prstGeom prst="roundRect">
            <a:avLst>
              <a:gd name="adj" fmla="val 2245"/>
            </a:avLst>
          </a:prstGeom>
          <a:solidFill>
            <a:srgbClr val="FFFFFF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28738" y="5354538"/>
            <a:ext cx="816745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risks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477598" y="5354538"/>
            <a:ext cx="898421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0E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them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642938" y="5769769"/>
            <a:ext cx="17002125" cy="952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2938" y="5898356"/>
            <a:ext cx="495300" cy="4953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1" name="Text 18"/>
          <p:cNvSpPr/>
          <p:nvPr/>
        </p:nvSpPr>
        <p:spPr>
          <a:xfrm>
            <a:off x="604838" y="589835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28738" y="5991225"/>
            <a:ext cx="81674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Lab-trained disease models collapse on real field imagery.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8867998" y="6012656"/>
            <a:ext cx="495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477598" y="5836444"/>
            <a:ext cx="84124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and test on our own camera and altitudes; split data by field and date to stop leakage.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642938" y="6490692"/>
            <a:ext cx="17002125" cy="952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26" name="Shape 23"/>
          <p:cNvSpPr/>
          <p:nvPr/>
        </p:nvSpPr>
        <p:spPr>
          <a:xfrm>
            <a:off x="642938" y="6619280"/>
            <a:ext cx="495300" cy="4953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7" name="Text 24"/>
          <p:cNvSpPr/>
          <p:nvPr/>
        </p:nvSpPr>
        <p:spPr>
          <a:xfrm>
            <a:off x="604838" y="661928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328738" y="6712148"/>
            <a:ext cx="81674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 mm insect is under one pixel at mapping altitude.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8867998" y="6733580"/>
            <a:ext cx="495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9477598" y="6557367"/>
            <a:ext cx="84124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canopy damage first, then confirm on the 3–5 m revisit or a close-up phone image.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642938" y="7211616"/>
            <a:ext cx="17002125" cy="952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32" name="Shape 29"/>
          <p:cNvSpPr/>
          <p:nvPr/>
        </p:nvSpPr>
        <p:spPr>
          <a:xfrm>
            <a:off x="642938" y="7340203"/>
            <a:ext cx="495300" cy="4953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33" name="Text 30"/>
          <p:cNvSpPr/>
          <p:nvPr/>
        </p:nvSpPr>
        <p:spPr>
          <a:xfrm>
            <a:off x="604838" y="7340203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28738" y="7433072"/>
            <a:ext cx="81674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coordinates drift away from the real plants.</a:t>
            </a:r>
            <a:endParaRPr lang="en-US" sz="1875" dirty="0"/>
          </a:p>
        </p:txBody>
      </p:sp>
      <p:sp>
        <p:nvSpPr>
          <p:cNvPr id="35" name="Text 32"/>
          <p:cNvSpPr/>
          <p:nvPr/>
        </p:nvSpPr>
        <p:spPr>
          <a:xfrm>
            <a:off x="8867998" y="7454503"/>
            <a:ext cx="495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9477598" y="7278291"/>
            <a:ext cx="84124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clock, calibrated camera intrinsics, logged attitude and AGL, orthomosaic correction.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642938" y="7932539"/>
            <a:ext cx="17002125" cy="952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2938" y="8061127"/>
            <a:ext cx="495300" cy="4953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39" name="Text 36"/>
          <p:cNvSpPr/>
          <p:nvPr/>
        </p:nvSpPr>
        <p:spPr>
          <a:xfrm>
            <a:off x="604838" y="8061127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328738" y="8153995"/>
            <a:ext cx="81674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Jetson Nano cannot carry heavy models in flight.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8867998" y="8175427"/>
            <a:ext cx="495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9477598" y="7999214"/>
            <a:ext cx="84124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Nano-scale networks at 640 px, FP16 TensorRT, sampled frames, active cooling; mosaics run on the ground.</a:t>
            </a:r>
            <a:endParaRPr lang="en-US" sz="1875" dirty="0"/>
          </a:p>
        </p:txBody>
      </p:sp>
      <p:sp>
        <p:nvSpPr>
          <p:cNvPr id="43" name="Shape 40"/>
          <p:cNvSpPr/>
          <p:nvPr/>
        </p:nvSpPr>
        <p:spPr>
          <a:xfrm>
            <a:off x="642938" y="8653463"/>
            <a:ext cx="17002125" cy="9525"/>
          </a:xfrm>
          <a:prstGeom prst="rect">
            <a:avLst/>
          </a:prstGeom>
          <a:solidFill>
            <a:srgbClr val="E3E9F0"/>
          </a:solidFill>
          <a:ln/>
        </p:spPr>
      </p:sp>
      <p:sp>
        <p:nvSpPr>
          <p:cNvPr id="44" name="Shape 41"/>
          <p:cNvSpPr/>
          <p:nvPr/>
        </p:nvSpPr>
        <p:spPr>
          <a:xfrm>
            <a:off x="642938" y="8782050"/>
            <a:ext cx="495300" cy="49530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5" name="Text 42"/>
          <p:cNvSpPr/>
          <p:nvPr/>
        </p:nvSpPr>
        <p:spPr>
          <a:xfrm>
            <a:off x="604838" y="87820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328738" y="8874919"/>
            <a:ext cx="81674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fields have no usable network for hours.</a:t>
            </a:r>
            <a:endParaRPr lang="en-US" sz="1875" dirty="0"/>
          </a:p>
        </p:txBody>
      </p:sp>
      <p:sp>
        <p:nvSpPr>
          <p:cNvPr id="47" name="Text 44"/>
          <p:cNvSpPr/>
          <p:nvPr/>
        </p:nvSpPr>
        <p:spPr>
          <a:xfrm>
            <a:off x="8867998" y="8896350"/>
            <a:ext cx="495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21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9477598" y="8720138"/>
            <a:ext cx="841248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6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Imagery, models, map tiles and advisories stay local; sync and SMS fire when a network appears.</a:t>
            </a:r>
            <a:endParaRPr lang="en-US" sz="1875" dirty="0"/>
          </a:p>
        </p:txBody>
      </p:sp>
      <p:sp>
        <p:nvSpPr>
          <p:cNvPr id="49" name="Shape 46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19050" dir="5400000">
              <a:srgbClr val="808080">
                <a:alpha val="3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-274320" y="9534525"/>
            <a:ext cx="1883664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550" dirty="0"/>
          </a:p>
        </p:txBody>
      </p:sp>
      <p:sp>
        <p:nvSpPr>
          <p:cNvPr id="51" name="Text 48"/>
          <p:cNvSpPr/>
          <p:nvPr/>
        </p:nvSpPr>
        <p:spPr>
          <a:xfrm>
            <a:off x="17688744" y="9534525"/>
            <a:ext cx="25635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381000"/>
            <a:ext cx="1933575" cy="12668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372" y="681038"/>
            <a:ext cx="15393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150" kern="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14413" y="1176338"/>
            <a:ext cx="97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b="1" spc="150" kern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TH10-HW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9835" y="0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19100" y="1771650"/>
            <a:ext cx="191947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419100" y="2247900"/>
            <a:ext cx="4233863" cy="2034480"/>
          </a:xfrm>
          <a:prstGeom prst="roundRect">
            <a:avLst>
              <a:gd name="adj" fmla="val 3745"/>
            </a:avLst>
          </a:prstGeom>
          <a:solidFill>
            <a:srgbClr val="F7F9FC"/>
          </a:solidFill>
          <a:ln/>
        </p:spPr>
      </p:sp>
      <p:sp>
        <p:nvSpPr>
          <p:cNvPr id="9" name="Shape 6"/>
          <p:cNvSpPr/>
          <p:nvPr/>
        </p:nvSpPr>
        <p:spPr>
          <a:xfrm>
            <a:off x="419100" y="4268093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10" name="Shape 7"/>
          <p:cNvSpPr/>
          <p:nvPr/>
        </p:nvSpPr>
        <p:spPr>
          <a:xfrm>
            <a:off x="419100" y="2247900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11" name="Shape 8"/>
          <p:cNvSpPr/>
          <p:nvPr/>
        </p:nvSpPr>
        <p:spPr>
          <a:xfrm>
            <a:off x="419100" y="2247900"/>
            <a:ext cx="57150" cy="2034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2" name="Shape 9"/>
          <p:cNvSpPr/>
          <p:nvPr/>
        </p:nvSpPr>
        <p:spPr>
          <a:xfrm>
            <a:off x="4638675" y="2247900"/>
            <a:ext cx="14288" cy="2034480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" y="2414588"/>
            <a:ext cx="4201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7700" y="2829818"/>
            <a:ext cx="39341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located before they spread, and spray or irrigation applied to the flagged zone instead of the whole field.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4824413" y="2247900"/>
            <a:ext cx="4233863" cy="2034480"/>
          </a:xfrm>
          <a:prstGeom prst="roundRect">
            <a:avLst>
              <a:gd name="adj" fmla="val 3745"/>
            </a:avLst>
          </a:prstGeom>
          <a:solidFill>
            <a:srgbClr val="F7F9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824413" y="4268093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17" name="Shape 14"/>
          <p:cNvSpPr/>
          <p:nvPr/>
        </p:nvSpPr>
        <p:spPr>
          <a:xfrm>
            <a:off x="4824413" y="2247900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18" name="Shape 15"/>
          <p:cNvSpPr/>
          <p:nvPr/>
        </p:nvSpPr>
        <p:spPr>
          <a:xfrm>
            <a:off x="4824413" y="2247900"/>
            <a:ext cx="57150" cy="2034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9" name="Shape 16"/>
          <p:cNvSpPr/>
          <p:nvPr/>
        </p:nvSpPr>
        <p:spPr>
          <a:xfrm>
            <a:off x="9043988" y="2247900"/>
            <a:ext cx="14288" cy="2034480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20" name="Text 17"/>
          <p:cNvSpPr/>
          <p:nvPr/>
        </p:nvSpPr>
        <p:spPr>
          <a:xfrm>
            <a:off x="5053013" y="2414588"/>
            <a:ext cx="4201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FPOs and cooperatives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5053013" y="2829818"/>
            <a:ext cx="39341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aircraft serves many members, with shared scouting reports and a season-long field record.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9229725" y="2247900"/>
            <a:ext cx="4233863" cy="2034480"/>
          </a:xfrm>
          <a:prstGeom prst="roundRect">
            <a:avLst>
              <a:gd name="adj" fmla="val 3745"/>
            </a:avLst>
          </a:prstGeom>
          <a:solidFill>
            <a:srgbClr val="F7F9FC"/>
          </a:solidFill>
          <a:ln/>
        </p:spPr>
      </p:sp>
      <p:sp>
        <p:nvSpPr>
          <p:cNvPr id="23" name="Shape 20"/>
          <p:cNvSpPr/>
          <p:nvPr/>
        </p:nvSpPr>
        <p:spPr>
          <a:xfrm>
            <a:off x="9229725" y="4268093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24" name="Shape 21"/>
          <p:cNvSpPr/>
          <p:nvPr/>
        </p:nvSpPr>
        <p:spPr>
          <a:xfrm>
            <a:off x="9229725" y="2247900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25" name="Shape 22"/>
          <p:cNvSpPr/>
          <p:nvPr/>
        </p:nvSpPr>
        <p:spPr>
          <a:xfrm>
            <a:off x="9229725" y="2247900"/>
            <a:ext cx="57150" cy="2034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6" name="Shape 23"/>
          <p:cNvSpPr/>
          <p:nvPr/>
        </p:nvSpPr>
        <p:spPr>
          <a:xfrm>
            <a:off x="13449300" y="2247900"/>
            <a:ext cx="14288" cy="2034480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27" name="Text 24"/>
          <p:cNvSpPr/>
          <p:nvPr/>
        </p:nvSpPr>
        <p:spPr>
          <a:xfrm>
            <a:off x="9458325" y="2414588"/>
            <a:ext cx="4201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officers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9458325" y="2829818"/>
            <a:ext cx="39341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maps with dated evidence photos make advisories and scheme reporting verifiable.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3635038" y="2247900"/>
            <a:ext cx="4233863" cy="2034480"/>
          </a:xfrm>
          <a:prstGeom prst="roundRect">
            <a:avLst>
              <a:gd name="adj" fmla="val 3745"/>
            </a:avLst>
          </a:prstGeom>
          <a:solidFill>
            <a:srgbClr val="F7F9FC"/>
          </a:solidFill>
          <a:ln/>
        </p:spPr>
      </p:sp>
      <p:sp>
        <p:nvSpPr>
          <p:cNvPr id="30" name="Shape 27"/>
          <p:cNvSpPr/>
          <p:nvPr/>
        </p:nvSpPr>
        <p:spPr>
          <a:xfrm>
            <a:off x="13635038" y="4268093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31" name="Shape 28"/>
          <p:cNvSpPr/>
          <p:nvPr/>
        </p:nvSpPr>
        <p:spPr>
          <a:xfrm>
            <a:off x="13635038" y="2247900"/>
            <a:ext cx="4233863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3635038" y="2247900"/>
            <a:ext cx="57150" cy="20344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3" name="Shape 30"/>
          <p:cNvSpPr/>
          <p:nvPr/>
        </p:nvSpPr>
        <p:spPr>
          <a:xfrm>
            <a:off x="17854613" y="2247900"/>
            <a:ext cx="14288" cy="2034480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34" name="Text 31"/>
          <p:cNvSpPr/>
          <p:nvPr/>
        </p:nvSpPr>
        <p:spPr>
          <a:xfrm>
            <a:off x="13863638" y="2414588"/>
            <a:ext cx="42014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385"/>
              </a:lnSpc>
              <a:buNone/>
            </a:pPr>
            <a:r>
              <a:rPr lang="en-US" sz="21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3863638" y="2829818"/>
            <a:ext cx="39341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chemical and water use per acre, and earlier warning of drought, flood and heat damage.</a:t>
            </a:r>
            <a:endParaRPr lang="en-US" sz="1875" dirty="0"/>
          </a:p>
        </p:txBody>
      </p:sp>
      <p:sp>
        <p:nvSpPr>
          <p:cNvPr id="36" name="Text 33"/>
          <p:cNvSpPr/>
          <p:nvPr/>
        </p:nvSpPr>
        <p:spPr>
          <a:xfrm>
            <a:off x="419100" y="4472880"/>
            <a:ext cx="191947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419100" y="4949130"/>
            <a:ext cx="5702275" cy="2585963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419100" y="7520806"/>
            <a:ext cx="5702275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39" name="Shape 36"/>
          <p:cNvSpPr/>
          <p:nvPr/>
        </p:nvSpPr>
        <p:spPr>
          <a:xfrm>
            <a:off x="419100" y="4949130"/>
            <a:ext cx="5702275" cy="57150"/>
          </a:xfrm>
          <a:prstGeom prst="rect">
            <a:avLst/>
          </a:prstGeom>
          <a:solidFill>
            <a:srgbClr val="0E7A3D"/>
          </a:solidFill>
          <a:ln/>
        </p:spPr>
      </p:sp>
      <p:sp>
        <p:nvSpPr>
          <p:cNvPr id="40" name="Shape 37"/>
          <p:cNvSpPr/>
          <p:nvPr/>
        </p:nvSpPr>
        <p:spPr>
          <a:xfrm>
            <a:off x="419100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1" name="Shape 38"/>
          <p:cNvSpPr/>
          <p:nvPr/>
        </p:nvSpPr>
        <p:spPr>
          <a:xfrm>
            <a:off x="6107088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2" name="Text 39"/>
          <p:cNvSpPr/>
          <p:nvPr/>
        </p:nvSpPr>
        <p:spPr>
          <a:xfrm>
            <a:off x="623888" y="5177730"/>
            <a:ext cx="5821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E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2250" dirty="0"/>
          </a:p>
        </p:txBody>
      </p:sp>
      <p:sp>
        <p:nvSpPr>
          <p:cNvPr id="43" name="Text 40"/>
          <p:cNvSpPr/>
          <p:nvPr/>
        </p:nvSpPr>
        <p:spPr>
          <a:xfrm>
            <a:off x="623888" y="5615880"/>
            <a:ext cx="5451481" cy="1771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intervention cuts pesticide, fertiliser and pumping spend. Capital cost is about ₹80,000 against ₹6.67 lakh for an imported multispectral drone, so an FPO can own one outright.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6292825" y="4949130"/>
            <a:ext cx="5702275" cy="2585963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292825" y="7520806"/>
            <a:ext cx="5702275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6" name="Shape 43"/>
          <p:cNvSpPr/>
          <p:nvPr/>
        </p:nvSpPr>
        <p:spPr>
          <a:xfrm>
            <a:off x="6292825" y="4949130"/>
            <a:ext cx="5702275" cy="57150"/>
          </a:xfrm>
          <a:prstGeom prst="rect">
            <a:avLst/>
          </a:prstGeom>
          <a:solidFill>
            <a:srgbClr val="0E7A3D"/>
          </a:solidFill>
          <a:ln/>
        </p:spPr>
      </p:sp>
      <p:sp>
        <p:nvSpPr>
          <p:cNvPr id="47" name="Shape 44"/>
          <p:cNvSpPr/>
          <p:nvPr/>
        </p:nvSpPr>
        <p:spPr>
          <a:xfrm>
            <a:off x="6292825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8" name="Shape 45"/>
          <p:cNvSpPr/>
          <p:nvPr/>
        </p:nvSpPr>
        <p:spPr>
          <a:xfrm>
            <a:off x="11980813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49" name="Text 46"/>
          <p:cNvSpPr/>
          <p:nvPr/>
        </p:nvSpPr>
        <p:spPr>
          <a:xfrm>
            <a:off x="6497613" y="5177730"/>
            <a:ext cx="582197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E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2250" dirty="0"/>
          </a:p>
        </p:txBody>
      </p:sp>
      <p:sp>
        <p:nvSpPr>
          <p:cNvPr id="50" name="Text 47"/>
          <p:cNvSpPr/>
          <p:nvPr/>
        </p:nvSpPr>
        <p:spPr>
          <a:xfrm>
            <a:off x="6497613" y="5615880"/>
            <a:ext cx="5451481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 reach only the zones that show damage, and irrigation is advised only where soil moisture and canopy temperature both justify it — less runoff, less groundwater drawn.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12166550" y="4949130"/>
            <a:ext cx="5702350" cy="2585963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12166550" y="7520806"/>
            <a:ext cx="5702350" cy="14288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3" name="Shape 50"/>
          <p:cNvSpPr/>
          <p:nvPr/>
        </p:nvSpPr>
        <p:spPr>
          <a:xfrm>
            <a:off x="12166550" y="4949130"/>
            <a:ext cx="5702350" cy="57150"/>
          </a:xfrm>
          <a:prstGeom prst="rect">
            <a:avLst/>
          </a:prstGeom>
          <a:solidFill>
            <a:srgbClr val="0E7A3D"/>
          </a:solidFill>
          <a:ln/>
        </p:spPr>
      </p:sp>
      <p:sp>
        <p:nvSpPr>
          <p:cNvPr id="54" name="Shape 51"/>
          <p:cNvSpPr/>
          <p:nvPr/>
        </p:nvSpPr>
        <p:spPr>
          <a:xfrm>
            <a:off x="12166550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5" name="Shape 52"/>
          <p:cNvSpPr/>
          <p:nvPr/>
        </p:nvSpPr>
        <p:spPr>
          <a:xfrm>
            <a:off x="17854613" y="4949130"/>
            <a:ext cx="14288" cy="2585963"/>
          </a:xfrm>
          <a:prstGeom prst="rect">
            <a:avLst/>
          </a:prstGeom>
          <a:solidFill>
            <a:srgbClr val="CFD8E3"/>
          </a:solidFill>
          <a:ln/>
        </p:spPr>
      </p:sp>
      <p:sp>
        <p:nvSpPr>
          <p:cNvPr id="56" name="Text 53"/>
          <p:cNvSpPr/>
          <p:nvPr/>
        </p:nvSpPr>
        <p:spPr>
          <a:xfrm>
            <a:off x="12371338" y="5177730"/>
            <a:ext cx="582205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0E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2250" dirty="0"/>
          </a:p>
        </p:txBody>
      </p:sp>
      <p:sp>
        <p:nvSpPr>
          <p:cNvPr id="57" name="Text 54"/>
          <p:cNvSpPr/>
          <p:nvPr/>
        </p:nvSpPr>
        <p:spPr>
          <a:xfrm>
            <a:off x="12371338" y="5615880"/>
            <a:ext cx="5451558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reach farms with no connectivity, in the local language, with the photograph and confidence attached — so advice can be questioned and checked, not just obeyed.</a:t>
            </a:r>
            <a:endParaRPr lang="en-US" sz="1950" dirty="0"/>
          </a:p>
        </p:txBody>
      </p:sp>
      <p:sp>
        <p:nvSpPr>
          <p:cNvPr id="58" name="Shape 55"/>
          <p:cNvSpPr/>
          <p:nvPr/>
        </p:nvSpPr>
        <p:spPr>
          <a:xfrm>
            <a:off x="419100" y="8315325"/>
            <a:ext cx="17449800" cy="1152525"/>
          </a:xfrm>
          <a:prstGeom prst="roundRect">
            <a:avLst>
              <a:gd name="adj" fmla="val 6612"/>
            </a:avLst>
          </a:prstGeom>
          <a:solidFill>
            <a:srgbClr val="1F497D"/>
          </a:solidFill>
          <a:ln/>
        </p:spPr>
      </p:sp>
      <p:sp>
        <p:nvSpPr>
          <p:cNvPr id="59" name="Text 56"/>
          <p:cNvSpPr/>
          <p:nvPr/>
        </p:nvSpPr>
        <p:spPr>
          <a:xfrm>
            <a:off x="432054" y="8505825"/>
            <a:ext cx="174238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7391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drone finds where the problem is, close-up vision determines what it is, ground sensors explain why it is happening, and edge AI recommends what to check next.</a:t>
            </a:r>
            <a:endParaRPr lang="en-US" sz="2250" dirty="0"/>
          </a:p>
        </p:txBody>
      </p:sp>
      <p:sp>
        <p:nvSpPr>
          <p:cNvPr id="60" name="Shape 57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19050" dir="5400000">
              <a:srgbClr val="808080">
                <a:alpha val="35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-274320" y="9534525"/>
            <a:ext cx="1883664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550" dirty="0"/>
          </a:p>
        </p:txBody>
      </p:sp>
      <p:sp>
        <p:nvSpPr>
          <p:cNvPr id="62" name="Text 59"/>
          <p:cNvSpPr/>
          <p:nvPr/>
        </p:nvSpPr>
        <p:spPr>
          <a:xfrm>
            <a:off x="17688744" y="9534525"/>
            <a:ext cx="25635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300" y="381000"/>
            <a:ext cx="1933575" cy="12668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372" y="681038"/>
            <a:ext cx="15393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75"/>
              </a:lnSpc>
              <a:buNone/>
            </a:pPr>
            <a:r>
              <a:rPr lang="en-US" sz="3300" b="1" spc="150" kern="0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014413" y="1176338"/>
            <a:ext cx="971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350" b="1" spc="150" kern="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TH10-HW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5761613948" r="-45761613948" t="0" b="0"/>
          <a:stretch/>
        </p:blipFill>
        <p:spPr>
          <a:xfrm>
            <a:off x="14668500" y="0"/>
            <a:ext cx="3371850" cy="1590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9835" y="0"/>
            <a:ext cx="1216533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54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419100" y="1771650"/>
            <a:ext cx="17449800" cy="1774329"/>
          </a:xfrm>
          <a:prstGeom prst="roundRect">
            <a:avLst>
              <a:gd name="adj" fmla="val 5368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938" y="1900238"/>
            <a:ext cx="18702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and applied research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642938" y="2319338"/>
            <a:ext cx="2667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47737" y="2319338"/>
            <a:ext cx="1719824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the low-cost NDVI imaging paper we were given: three printed NDVI equations are inverted and the system was never flown, so we use it only as a reflectance-calibration reference.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42938" y="3083123"/>
            <a:ext cx="2667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7737" y="3083123"/>
            <a:ext cx="1836705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the prototype to paddy after checking which Indian crop has open, field-collected disease imagery and which problems are visible at 20–30 m.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419100" y="3660279"/>
            <a:ext cx="17449800" cy="4176712"/>
          </a:xfrm>
          <a:prstGeom prst="roundRect">
            <a:avLst>
              <a:gd name="adj" fmla="val 2281"/>
            </a:avLst>
          </a:prstGeom>
          <a:solidFill>
            <a:srgbClr val="FFFFFF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938" y="3788866"/>
            <a:ext cx="18702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22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and technical sources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42938" y="4227016"/>
            <a:ext cx="26670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47737" y="4227016"/>
            <a:ext cx="83146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an accurate low-cost NDVI imaging system for assessing plant health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Plant Methods, 2023.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doi.org/10.1186/s13007-023-00981-8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9267825" y="4227016"/>
            <a:ext cx="26670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9572625" y="4227016"/>
            <a:ext cx="83146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Cucho-Padin et al. — Low-cost multisensor UAV for smallholder agriculture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NDVI agreement R² ≥ 0.8 and over 82% accuracy across 13 crop classes.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link.springer.com/article/10.1007/s12518-019-00292-5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42938" y="5324773"/>
            <a:ext cx="2667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947737" y="5324773"/>
            <a:ext cx="83146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Mohanty et al. — Using deep learning for image-based plant disease detection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99.35% on PlantVillage but about 31% on independent field images; the reason we train on our own data.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frontiersin.org/articles/10.3389/fpls.2016.01419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9267825" y="5324773"/>
            <a:ext cx="2667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572625" y="5324773"/>
            <a:ext cx="83146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Aasen et al. — Quantitative remote sensing with UAV spectral sensors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radiometric and geometric calibration practice for flight campaigns.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mdpi.com/2072-4292/10/7/1091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642938" y="6743998"/>
            <a:ext cx="26670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947737" y="6743998"/>
            <a:ext cx="83146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Becker et al. — Separating nitrogen and water deficiency in maize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why nutrient and water stress cannot be told apart from one index.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mdpi.com/2073-4395/10/11/1671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9267825" y="6743998"/>
            <a:ext cx="266700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9572625" y="6743998"/>
            <a:ext cx="8314611" cy="1002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and QGroundControl survey-grid and camera-trigger documentation 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mission geometry, overlap and geotagging workflow. 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ardupilot.org</a:t>
            </a:r>
            <a:pPr algn="l" indent="0" marL="0">
              <a:lnSpc>
                <a:spcPct val="116379"/>
              </a:lnSpc>
              <a:buNone/>
            </a:pPr>
            <a:r>
              <a:rPr lang="en-US" sz="18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lnSpc>
                <a:spcPct val="116379"/>
              </a:lnSpc>
              <a:buNone/>
            </a:pPr>
            <a:r>
              <a:rPr lang="en-US" sz="1875" u="sng" dirty="0">
                <a:solidFill>
                  <a:srgbClr val="0563C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docs.qgroundcontrol.com</a:t>
            </a:r>
            <a:endParaRPr lang="en-US" sz="1875" dirty="0"/>
          </a:p>
        </p:txBody>
      </p:sp>
      <p:sp>
        <p:nvSpPr>
          <p:cNvPr id="27" name="Shape 24"/>
          <p:cNvSpPr/>
          <p:nvPr/>
        </p:nvSpPr>
        <p:spPr>
          <a:xfrm>
            <a:off x="419100" y="7951291"/>
            <a:ext cx="17449800" cy="1066726"/>
          </a:xfrm>
          <a:prstGeom prst="roundRect">
            <a:avLst>
              <a:gd name="adj" fmla="val 8929"/>
            </a:avLst>
          </a:prstGeom>
          <a:solidFill>
            <a:srgbClr val="F7F9FC"/>
          </a:solidFill>
          <a:ln w="14288">
            <a:solidFill>
              <a:srgbClr val="CFD8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2938" y="8079879"/>
            <a:ext cx="18702338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and open source used for pretraining and reuse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642938" y="8472264"/>
            <a:ext cx="2310631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9625" y="8543702"/>
            <a:ext cx="205345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Agriculture-Vision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048819" y="8472264"/>
            <a:ext cx="1819498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15506" y="8543702"/>
            <a:ext cx="156232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Paddy Doctor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4963567" y="8472264"/>
            <a:ext cx="1324124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30254" y="8543702"/>
            <a:ext cx="106694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PlantDoc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382941" y="8472264"/>
            <a:ext cx="930771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49628" y="8543702"/>
            <a:ext cx="67359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IP102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408962" y="8472264"/>
            <a:ext cx="2035299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75649" y="8543702"/>
            <a:ext cx="1778124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OpenDroneMap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9539511" y="8472264"/>
            <a:ext cx="1769046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06198" y="8543702"/>
            <a:ext cx="151187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Fields2Cover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1403806" y="8472264"/>
            <a:ext cx="1438796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570494" y="8543702"/>
            <a:ext cx="118162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2937852" y="8472264"/>
            <a:ext cx="2696394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104540" y="8543702"/>
            <a:ext cx="244391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Rasterio / GeoPandas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5729496" y="8472264"/>
            <a:ext cx="1730425" cy="4171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9FB6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5896183" y="8543702"/>
            <a:ext cx="1473250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7"/>
              </a:lnSpc>
              <a:buNone/>
            </a:pPr>
            <a:r>
              <a:rPr lang="en-US" sz="1800" b="1" dirty="0">
                <a:solidFill>
                  <a:srgbClr val="12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0" y="9534525"/>
            <a:ext cx="18288000" cy="752475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19050" dir="5400000">
              <a:srgbClr val="808080">
                <a:alpha val="35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-274320" y="9534525"/>
            <a:ext cx="1883664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87179"/>
              </a:lnSpc>
              <a:buNone/>
            </a:pPr>
            <a:r>
              <a:rPr lang="en-US" sz="2550" b="1" spc="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550" dirty="0"/>
          </a:p>
        </p:txBody>
      </p:sp>
      <p:sp>
        <p:nvSpPr>
          <p:cNvPr id="49" name="Text 46"/>
          <p:cNvSpPr/>
          <p:nvPr/>
        </p:nvSpPr>
        <p:spPr>
          <a:xfrm>
            <a:off x="17688744" y="9534525"/>
            <a:ext cx="256356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179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2026-09-06T05:45:32Z</dcterms:created>
  <dcterms:modified xsi:type="dcterms:W3CDTF">2026-09-06T05:45:32Z</dcterms:modified>
</cp:coreProperties>
</file>